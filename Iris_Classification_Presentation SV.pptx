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77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678528" y="457200"/>
            <a:ext cx="283464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1030">
                <a:alpha val="35000"/>
              </a:srgbClr>
            </a:outerShdw>
          </a:effectLst>
        </p:spPr>
      </p:sp>
      <p:pic>
        <p:nvPicPr>
          <p:cNvPr id="6" name="Image 0" descr="/home/claude/work/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408" y="621792"/>
            <a:ext cx="2468880" cy="12252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0" y="257860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78528" y="312724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8B1E3F"/>
          </a:solidFill>
          <a:ln/>
        </p:spPr>
      </p:sp>
      <p:sp>
        <p:nvSpPr>
          <p:cNvPr id="10" name="Text 7"/>
          <p:cNvSpPr/>
          <p:nvPr/>
        </p:nvSpPr>
        <p:spPr>
          <a:xfrm>
            <a:off x="4678528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10728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Flower Classification</a:t>
            </a:r>
            <a:endParaRPr lang="en-US" sz="3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1661008" y="5074920"/>
            <a:ext cx="475488" cy="475488"/>
          </a:xfrm>
          <a:prstGeom prst="ellipse">
            <a:avLst/>
          </a:prstGeom>
          <a:solidFill>
            <a:srgbClr val="2A3A72"/>
          </a:solidFill>
          <a:ln/>
        </p:spPr>
      </p:sp>
      <p:pic>
        <p:nvPicPr>
          <p:cNvPr id="13" name="Image 1" descr="/home/claude/work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125" y="5189037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2800" y="50749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282800" y="5294376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7th Semester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324448" y="5074920"/>
            <a:ext cx="475488" cy="475488"/>
          </a:xfrm>
          <a:prstGeom prst="ellipse">
            <a:avLst/>
          </a:prstGeom>
          <a:solidFill>
            <a:srgbClr val="2A3A72"/>
          </a:solidFill>
          <a:ln/>
        </p:spPr>
      </p:sp>
      <p:pic>
        <p:nvPicPr>
          <p:cNvPr id="17" name="Image 2" descr="/home/claude/work/icons/projec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565" y="5189037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6240" y="50749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946240" y="5294376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Infobyte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352648" y="5870448"/>
            <a:ext cx="5486400" cy="12802"/>
          </a:xfrm>
          <a:prstGeom prst="rect">
            <a:avLst/>
          </a:prstGeom>
          <a:solidFill>
            <a:srgbClr val="3B4A80"/>
          </a:solidFill>
          <a:ln/>
        </p:spPr>
      </p:sp>
      <p:sp>
        <p:nvSpPr>
          <p:cNvPr id="21" name="Text 16"/>
          <p:cNvSpPr/>
          <p:nvPr/>
        </p:nvSpPr>
        <p:spPr>
          <a:xfrm>
            <a:off x="0" y="601675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Verma</a:t>
            </a:r>
            <a:r>
              <a:rPr lang="en-US" sz="12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Roll No: CS-23411082   |   Batch 2023–27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Flower-species classification is a classic entry point into supervised ML: simple enough to reason about by hand, yet rich enough to demonstrate a complete modelling pipeline on Fisher's 1936 Iris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596896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7" name="Image 0" descr="/home/claude/work/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70662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182112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Validate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456432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dataset integrity — shape, dtypes, missing values, class balance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2122" y="2395728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11" name="Shape 8"/>
          <p:cNvSpPr/>
          <p:nvPr/>
        </p:nvSpPr>
        <p:spPr>
          <a:xfrm>
            <a:off x="4533290" y="2596896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2" name="Image 1" descr="/home/claude/work/icons/chartb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018" y="270662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3290" y="3182112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Visually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33290" y="3456432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feature distributions and class separability through EDA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15605" y="2395728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316773" y="2596896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7" name="Image 2" descr="/home/claude/work/icons/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501" y="270662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6773" y="3182112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Features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16773" y="3456432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feature usefulness qualitatively, then confirm quantitatively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261104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4462272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22" name="Image 3" descr="/home/claude/work/icons/co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57200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5047488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Rigorously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49808" y="5321808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+ scaling that avoids data leakage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32122" y="4261104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26" name="Shape 20"/>
          <p:cNvSpPr/>
          <p:nvPr/>
        </p:nvSpPr>
        <p:spPr>
          <a:xfrm>
            <a:off x="4533290" y="4462272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27" name="Image 4" descr="/home/claude/work/icons/sitema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018" y="457200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33290" y="5047488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Diverse Models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33290" y="5321808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distance-based, tree-based and ensemble algorithms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15605" y="4261104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31" name="Shape 24"/>
          <p:cNvSpPr/>
          <p:nvPr/>
        </p:nvSpPr>
        <p:spPr>
          <a:xfrm>
            <a:off x="8316773" y="4462272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32" name="Image 5" descr="/home/claude/work/icons/trophy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6501" y="457200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16773" y="5047488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Justify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16773" y="5321808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 more than accuracy; recommend a best model with evidence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68880" cy="1207008"/>
          </a:xfrm>
          <a:prstGeom prst="roundRect">
            <a:avLst>
              <a:gd name="adj" fmla="val 6818"/>
            </a:avLst>
          </a:prstGeom>
          <a:solidFill>
            <a:srgbClr val="1E2A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4533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468880" cy="1207008"/>
          </a:xfrm>
          <a:prstGeom prst="roundRect">
            <a:avLst>
              <a:gd name="adj" fmla="val 6818"/>
            </a:avLst>
          </a:prstGeom>
          <a:solidFill>
            <a:srgbClr val="1E2A5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54533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2313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2468880" cy="1207008"/>
          </a:xfrm>
          <a:prstGeom prst="roundRect">
            <a:avLst>
              <a:gd name="adj" fmla="val 6818"/>
            </a:avLst>
          </a:prstGeom>
          <a:solidFill>
            <a:srgbClr val="1E2A5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3522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Species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807208"/>
            <a:ext cx="2468880" cy="1207008"/>
          </a:xfrm>
          <a:prstGeom prst="roundRect">
            <a:avLst>
              <a:gd name="adj" fmla="val 6818"/>
            </a:avLst>
          </a:prstGeom>
          <a:solidFill>
            <a:srgbClr val="1E2A5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93522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0040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(cm)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91640"/>
          <a:ext cx="548640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12648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across species — accuracy is a fair, unbiased headline metric with no majority class to exploit and no need for resampling.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4133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Feature Values by Species</a:t>
            </a:r>
            <a:endParaRPr lang="en-US" sz="13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5486400" cy="131673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Versicolor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355080" y="4434840"/>
            <a:ext cx="5257800" cy="1508760"/>
          </a:xfrm>
          <a:prstGeom prst="rect">
            <a:avLst/>
          </a:prstGeom>
          <a:solidFill>
            <a:srgbClr val="F2F0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is smallest in petal size but largest in sepal width — a hint that sepal width alone is a weak, counter-intuitive predictor.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Plot: Feature Relationships</a:t>
            </a:r>
            <a:endParaRPr lang="en-US" sz="3000" dirty="0"/>
          </a:p>
        </p:txBody>
      </p:sp>
      <p:pic>
        <p:nvPicPr>
          <p:cNvPr id="4" name="Image 0" descr="/home/claude/work/figs/pai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4885411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554480"/>
            <a:ext cx="402336" cy="40233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1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561" y="1651041"/>
            <a:ext cx="209215" cy="2092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4928" y="15361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is isolated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424928" y="1810512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 tight, completely separate cluster in almost every feature pair.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858000" y="2606040"/>
            <a:ext cx="402336" cy="40233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0" name="Image 2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561" y="2702601"/>
            <a:ext cx="209215" cy="2092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24928" y="258775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features separate best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424928" y="2862072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and Virginica overlap only modestly, mostly in sepal-based views.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858000" y="3657600"/>
            <a:ext cx="402336" cy="40233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4" name="Image 3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561" y="3754161"/>
            <a:ext cx="209215" cy="2092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24928" y="363931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pairs overlap more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424928" y="3913632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signal — consistent with lower discriminative ability.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858000" y="48006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1E2A56"/>
          </a:solidFill>
          <a:ln/>
        </p:spPr>
      </p:sp>
      <p:sp>
        <p:nvSpPr>
          <p:cNvPr id="18" name="Text 12"/>
          <p:cNvSpPr/>
          <p:nvPr/>
        </p:nvSpPr>
        <p:spPr>
          <a:xfrm>
            <a:off x="7086600" y="49286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legend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523951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4"/>
          <p:cNvSpPr/>
          <p:nvPr/>
        </p:nvSpPr>
        <p:spPr>
          <a:xfrm>
            <a:off x="7360920" y="5184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114032" y="55321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16"/>
          <p:cNvSpPr/>
          <p:nvPr/>
        </p:nvSpPr>
        <p:spPr>
          <a:xfrm>
            <a:off x="7360920" y="5477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114032" y="5824728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4" name="Text 18"/>
          <p:cNvSpPr/>
          <p:nvPr/>
        </p:nvSpPr>
        <p:spPr>
          <a:xfrm>
            <a:off x="7360920" y="5769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Plots &amp; Feature Correlation</a:t>
            </a:r>
            <a:endParaRPr lang="en-US" sz="3000" dirty="0"/>
          </a:p>
        </p:txBody>
      </p:sp>
      <p:pic>
        <p:nvPicPr>
          <p:cNvPr id="4" name="Image 0" descr="/home/claude/work/figs/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4955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spread by species</a:t>
            </a:r>
            <a:endParaRPr lang="en-US" sz="1050" dirty="0"/>
          </a:p>
        </p:txBody>
      </p:sp>
      <p:pic>
        <p:nvPicPr>
          <p:cNvPr id="6" name="Image 1" descr="/home/claude/work/figs/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417320"/>
            <a:ext cx="3246120" cy="2705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03720" y="41772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numeric features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903720" y="45796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2F0FA"/>
          </a:solidFill>
          <a:ln/>
        </p:spPr>
      </p:sp>
      <p:sp>
        <p:nvSpPr>
          <p:cNvPr id="9" name="Text 5"/>
          <p:cNvSpPr/>
          <p:nvPr/>
        </p:nvSpPr>
        <p:spPr>
          <a:xfrm>
            <a:off x="7086600" y="468934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length/width are strongly correlated with each other and with sepal length. Sepal width stands apart — weak or slightly negative correlation with the rest.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Violin Plots &amp; EDA Summary</a:t>
            </a:r>
            <a:endParaRPr lang="en-US" sz="3000" dirty="0"/>
          </a:p>
        </p:txBody>
      </p:sp>
      <p:pic>
        <p:nvPicPr>
          <p:cNvPr id="4" name="Image 0" descr="/home/claude/work/figs/viol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7680960" cy="2954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490407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&amp; petal width: three distinct, mostly non-overlapping density regions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458200" y="1463040"/>
            <a:ext cx="3200400" cy="4709160"/>
          </a:xfrm>
          <a:prstGeom prst="roundRect">
            <a:avLst>
              <a:gd name="adj" fmla="val 2571"/>
            </a:avLst>
          </a:prstGeom>
          <a:solidFill>
            <a:srgbClr val="1E2A56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TAKEAWAYS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0" y="2084832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9" name="Text 6"/>
          <p:cNvSpPr/>
          <p:nvPr/>
        </p:nvSpPr>
        <p:spPr>
          <a:xfrm>
            <a:off x="8915400" y="197510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is linearly separable on almost every feature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0" y="2980944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1" name="Text 8"/>
          <p:cNvSpPr/>
          <p:nvPr/>
        </p:nvSpPr>
        <p:spPr>
          <a:xfrm>
            <a:off x="8915400" y="287121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/ Virginica overlap more, but remain largely distinguishable on petal dimensions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0" y="3877056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3" name="Text 10"/>
          <p:cNvSpPr/>
          <p:nvPr/>
        </p:nvSpPr>
        <p:spPr>
          <a:xfrm>
            <a:off x="8915400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&amp; width are the most discriminative, correlated pair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0" y="4773168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5" name="Text 12"/>
          <p:cNvSpPr/>
          <p:nvPr/>
        </p:nvSpPr>
        <p:spPr>
          <a:xfrm>
            <a:off x="8915400" y="46634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width is the weakest, most independent feature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Feature Importance</a:t>
            </a:r>
            <a:endParaRPr lang="en-US" sz="3000" dirty="0"/>
          </a:p>
        </p:txBody>
      </p:sp>
      <p:pic>
        <p:nvPicPr>
          <p:cNvPr id="4" name="Image 0" descr="/home/claude/work/fig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630936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9834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full-dataset fit, used for analysis only — the held-out train/test split in Section 6 is separate and does not leak information.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7804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Feature Assessment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011680"/>
          <a:ext cx="4480560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zero overlap between species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Tight, well-separated clusters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Setosa separates; others 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overlap across all species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78040" y="416052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2F0FA"/>
          </a:solidFill>
          <a:ln/>
        </p:spPr>
      </p:sp>
      <p:sp>
        <p:nvSpPr>
          <p:cNvPr id="9" name="Text 5"/>
          <p:cNvSpPr/>
          <p:nvPr/>
        </p:nvSpPr>
        <p:spPr>
          <a:xfrm>
            <a:off x="7360920" y="4279392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and width together account for ~87% of the model's decision signal. No features were removed — even weak ones can add marginal benefit on a set this small.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F2F0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39112"/>
            <a:ext cx="512064" cy="51206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6" name="Image 0" descr="/home/claude/work/icons/projec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216200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" y="2953512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338328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train-test split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3867912"/>
            <a:ext cx="2972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train  ·  30 test samples, 10 per class in the test set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53458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1E2A56"/>
          </a:solidFill>
          <a:ln/>
        </p:spPr>
      </p:sp>
      <p:sp>
        <p:nvSpPr>
          <p:cNvPr id="12" name="Shape 9"/>
          <p:cNvSpPr/>
          <p:nvPr/>
        </p:nvSpPr>
        <p:spPr>
          <a:xfrm>
            <a:off x="4609490" y="2039112"/>
            <a:ext cx="512064" cy="512064"/>
          </a:xfrm>
          <a:prstGeom prst="ellipse">
            <a:avLst/>
          </a:prstGeom>
          <a:solidFill>
            <a:srgbClr val="324379"/>
          </a:solidFill>
          <a:ln/>
        </p:spPr>
      </p:sp>
      <p:pic>
        <p:nvPicPr>
          <p:cNvPr id="13" name="Image 1" descr="/home/claude/work/icons/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386" y="216200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490" y="26974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09490" y="2953512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09490" y="338328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μ) / σ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09490" y="3867912"/>
            <a:ext cx="2972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 training data only, then applied to test data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58277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F2F0FA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4309" y="2039112"/>
            <a:ext cx="512064" cy="51206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20" name="Image 2" descr="/home/claude/work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204" y="2162007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4309" y="26974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414309" y="2953512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Leakage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414309" y="338328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test-set information used to fit the scaler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414309" y="3867912"/>
            <a:ext cx="2972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KNN (distance-based) &amp; Logistic Regression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8571"/>
            </a:avLst>
          </a:prstGeom>
          <a:solidFill>
            <a:srgbClr val="F2F0FA"/>
          </a:solidFill>
          <a:ln/>
        </p:spPr>
      </p:sp>
      <p:sp>
        <p:nvSpPr>
          <p:cNvPr id="26" name="Shape 21"/>
          <p:cNvSpPr/>
          <p:nvPr/>
        </p:nvSpPr>
        <p:spPr>
          <a:xfrm>
            <a:off x="841248" y="5230368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27" name="Image 3" descr="/home/claude/work/icons/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34009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4983480"/>
            <a:ext cx="9951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stratification, a single unlucky split could under-represent a class in the test set, making the reported accuracy unreliable on a dataset this small.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Classification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81580" cy="3749040"/>
          </a:xfrm>
          <a:prstGeom prst="roundRect">
            <a:avLst>
              <a:gd name="adj" fmla="val 3542"/>
            </a:avLst>
          </a:prstGeom>
          <a:solidFill>
            <a:srgbClr val="F2F0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2581580" cy="91440"/>
          </a:xfrm>
          <a:prstGeom prst="roundRect">
            <a:avLst/>
          </a:prstGeom>
          <a:solidFill>
            <a:srgbClr val="F2F0FA"/>
          </a:solidFill>
          <a:ln/>
        </p:spPr>
      </p:sp>
      <p:sp>
        <p:nvSpPr>
          <p:cNvPr id="6" name="Shape 4"/>
          <p:cNvSpPr/>
          <p:nvPr/>
        </p:nvSpPr>
        <p:spPr>
          <a:xfrm>
            <a:off x="1537678" y="1938528"/>
            <a:ext cx="603504" cy="60350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7" name="Image 0" descr="/home/claude/work/icons/chartli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519" y="208336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97480"/>
            <a:ext cx="23072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16470" y="33467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6C4F9C"/>
          </a:solidFill>
          <a:ln/>
        </p:spPr>
      </p:sp>
      <p:sp>
        <p:nvSpPr>
          <p:cNvPr id="10" name="Text 7"/>
          <p:cNvSpPr/>
          <p:nvPr/>
        </p:nvSpPr>
        <p:spPr>
          <a:xfrm>
            <a:off x="1016470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Baseline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3794760"/>
            <a:ext cx="2179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a weighted feature sum. max_iter=200. Interpretable coefficients.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6252" y="1645920"/>
            <a:ext cx="2581580" cy="3749040"/>
          </a:xfrm>
          <a:prstGeom prst="roundRect">
            <a:avLst>
              <a:gd name="adj" fmla="val 3542"/>
            </a:avLst>
          </a:prstGeom>
          <a:solidFill>
            <a:srgbClr val="F2F0FA"/>
          </a:solidFill>
          <a:ln/>
        </p:spPr>
      </p:sp>
      <p:sp>
        <p:nvSpPr>
          <p:cNvPr id="13" name="Shape 10"/>
          <p:cNvSpPr/>
          <p:nvPr/>
        </p:nvSpPr>
        <p:spPr>
          <a:xfrm>
            <a:off x="3386252" y="1645920"/>
            <a:ext cx="2581580" cy="91440"/>
          </a:xfrm>
          <a:prstGeom prst="roundRect">
            <a:avLst/>
          </a:prstGeom>
          <a:solidFill>
            <a:srgbClr val="F2F0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375290" y="1938528"/>
            <a:ext cx="603504" cy="60350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5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31" y="2083369"/>
            <a:ext cx="313822" cy="31382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3412" y="2697480"/>
            <a:ext cx="23072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Neighbours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3854082" y="33467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6C4F9C"/>
          </a:solidFill>
          <a:ln/>
        </p:spPr>
      </p:sp>
      <p:sp>
        <p:nvSpPr>
          <p:cNvPr id="18" name="Text 14"/>
          <p:cNvSpPr/>
          <p:nvPr/>
        </p:nvSpPr>
        <p:spPr>
          <a:xfrm>
            <a:off x="3854082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587420" y="3794760"/>
            <a:ext cx="2179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of k=5 nearest neighbours (Euclidean). No boundary-shape assumptions.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23864" y="1645920"/>
            <a:ext cx="2581580" cy="3749040"/>
          </a:xfrm>
          <a:prstGeom prst="roundRect">
            <a:avLst>
              <a:gd name="adj" fmla="val 3542"/>
            </a:avLst>
          </a:prstGeom>
          <a:solidFill>
            <a:srgbClr val="F2F0FA"/>
          </a:solidFill>
          <a:ln/>
        </p:spPr>
      </p:sp>
      <p:sp>
        <p:nvSpPr>
          <p:cNvPr id="21" name="Shape 17"/>
          <p:cNvSpPr/>
          <p:nvPr/>
        </p:nvSpPr>
        <p:spPr>
          <a:xfrm>
            <a:off x="6223864" y="1645920"/>
            <a:ext cx="2581580" cy="91440"/>
          </a:xfrm>
          <a:prstGeom prst="roundRect">
            <a:avLst/>
          </a:prstGeom>
          <a:solidFill>
            <a:srgbClr val="F2F0FA"/>
          </a:solidFill>
          <a:ln/>
        </p:spPr>
      </p:sp>
      <p:sp>
        <p:nvSpPr>
          <p:cNvPr id="22" name="Shape 18"/>
          <p:cNvSpPr/>
          <p:nvPr/>
        </p:nvSpPr>
        <p:spPr>
          <a:xfrm>
            <a:off x="7212902" y="1938528"/>
            <a:ext cx="603504" cy="60350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23" name="Image 2" descr="/home/claude/work/icons/site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742" y="2083369"/>
            <a:ext cx="313822" cy="31382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61024" y="2697480"/>
            <a:ext cx="23072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691694" y="33467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6C4F9C"/>
          </a:solidFill>
          <a:ln/>
        </p:spPr>
      </p:sp>
      <p:sp>
        <p:nvSpPr>
          <p:cNvPr id="26" name="Text 21"/>
          <p:cNvSpPr/>
          <p:nvPr/>
        </p:nvSpPr>
        <p:spPr>
          <a:xfrm>
            <a:off x="6691694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425032" y="3794760"/>
            <a:ext cx="2179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recursive splits. max_depth=4. Reads directly as if/else rules.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061475" y="1645920"/>
            <a:ext cx="2581580" cy="3749040"/>
          </a:xfrm>
          <a:prstGeom prst="roundRect">
            <a:avLst>
              <a:gd name="adj" fmla="val 3542"/>
            </a:avLst>
          </a:prstGeom>
          <a:solidFill>
            <a:srgbClr val="F2F0FA"/>
          </a:solidFill>
          <a:ln/>
        </p:spPr>
      </p:sp>
      <p:sp>
        <p:nvSpPr>
          <p:cNvPr id="29" name="Shape 24"/>
          <p:cNvSpPr/>
          <p:nvPr/>
        </p:nvSpPr>
        <p:spPr>
          <a:xfrm>
            <a:off x="9061475" y="1645920"/>
            <a:ext cx="2581580" cy="91440"/>
          </a:xfrm>
          <a:prstGeom prst="roundRect">
            <a:avLst/>
          </a:prstGeom>
          <a:solidFill>
            <a:srgbClr val="F2F0FA"/>
          </a:solidFill>
          <a:ln/>
        </p:spPr>
      </p:sp>
      <p:sp>
        <p:nvSpPr>
          <p:cNvPr id="30" name="Shape 25"/>
          <p:cNvSpPr/>
          <p:nvPr/>
        </p:nvSpPr>
        <p:spPr>
          <a:xfrm>
            <a:off x="10050513" y="1938528"/>
            <a:ext cx="603504" cy="60350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31" name="Image 3" descr="/home/claude/work/icons/tre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354" y="2083369"/>
            <a:ext cx="313822" cy="31382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98635" y="2697480"/>
            <a:ext cx="23072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9529305" y="33467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6C4F9C"/>
          </a:solidFill>
          <a:ln/>
        </p:spPr>
      </p:sp>
      <p:sp>
        <p:nvSpPr>
          <p:cNvPr id="34" name="Text 28"/>
          <p:cNvSpPr/>
          <p:nvPr/>
        </p:nvSpPr>
        <p:spPr>
          <a:xfrm>
            <a:off x="9529305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262643" y="3794760"/>
            <a:ext cx="2179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max_depth=5, bootstrapped + random feature subsets, majority vote.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48640" y="5596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trained on the identical scaled training data, so results are directly comparable across four different modelling philosophies.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&amp; Cross-Validation</a:t>
            </a:r>
            <a:endParaRPr lang="en-US" sz="3000" dirty="0"/>
          </a:p>
        </p:txBody>
      </p:sp>
      <p:pic>
        <p:nvPicPr>
          <p:cNvPr id="4" name="Image 0" descr="/home/claude/work/figs/accura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9436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10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bars show 5-fold CV mean ± std deviation on the training set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17320"/>
          <a:ext cx="489204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32918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reach an identical 93.33% test accuracy (28/30) — the test set alone can't separate them, so 5-fold cross-validation breaks the tie.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766560" y="41605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2F0FA"/>
          </a:solidFill>
          <a:ln/>
        </p:spPr>
      </p:sp>
      <p:sp>
        <p:nvSpPr>
          <p:cNvPr id="9" name="Text 5"/>
          <p:cNvSpPr/>
          <p:nvPr/>
        </p:nvSpPr>
        <p:spPr>
          <a:xfrm>
            <a:off x="6949440" y="4270248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C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highest CV mean (96.67%) but also the most variability (σ=0.031).
</a:t>
            </a: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lowest CV std (0.017) — the most consistent across folds.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6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Analysis</a:t>
            </a:r>
            <a:endParaRPr lang="en-US" sz="3000" dirty="0"/>
          </a:p>
        </p:txBody>
      </p:sp>
      <p:pic>
        <p:nvPicPr>
          <p:cNvPr id="4" name="Image 0" descr="/home/claude/work/fig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394960" cy="414996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1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5727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85432" y="144475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Setosa: zero errors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85432" y="1737360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Setosa test samples are classified correctly by every single model.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63640" y="2633472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10" name="Image 2" descr="/home/claude/work/icons/warn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274320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85432" y="261518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Versicolor ↔ Virginica confusion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885432" y="2907792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misclassification, on every model, occurs only between these two species.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263640" y="3803904"/>
            <a:ext cx="457200" cy="457200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14" name="Image 3" descr="/home/claude/work/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91363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85432" y="378561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errs differently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885432" y="4078224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Versicolor correct, but 2 Virginica pulled toward Versicolor — a distinct, local-neighbourhood error pattern.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263640" y="502005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one aggregate accuracy figure would hide this — the confusion matrix reveals a real behavioural difference between models with identical test accuracy.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Really Show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Iris dataset is close to linearly separable, so even a simple linear model performs on par with more flexible non-linear ones — the ceiling on accuracy is set by genuine overlap between two species, not by model choice.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2F0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7" name="Image 0" descr="/home/claude/work/icons/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7377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95728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angles agree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00200" y="2706624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(Sec. 5) and confusion matrices (Sec. 7) both point to the same story: petal measurements dominate, and errors concentrate only between Versicolor and Virginica.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639312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1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959352"/>
            <a:ext cx="548640" cy="54864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2" name="Image 1" descr="/home/claude/work/icons/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09102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749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differ in behaviour, not accuracy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600200" y="4059936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difference between models is how — and how consistently — they resolve the ambiguous Versicolor/Virginica boundary, not their headline test score.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992624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2F0FA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5312664"/>
            <a:ext cx="548640" cy="54864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7" name="Image 2" descr="/home/claude/work/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5444338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102352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global decision-making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600200" y="5413248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KNN's neighbourhood-based predictions produce a qualitatively different error pattern than the other three models, despite an identical test accuracy.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377440"/>
            <a:ext cx="4754880" cy="4754880"/>
          </a:xfrm>
          <a:prstGeom prst="ellipse">
            <a:avLst/>
          </a:prstGeom>
          <a:solidFill>
            <a:srgbClr val="2734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Random Forest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6" name="Image 0" descr="/home/claude/work/icons/troph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90472"/>
            <a:ext cx="8961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93.33%</a:t>
            </a:r>
            <a:r>
              <a:rPr lang="en-US" sz="13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accuracy  ·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</a:t>
            </a:r>
            <a:r>
              <a:rPr lang="en-US" sz="13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lowest CV std of all models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5419192" cy="1481328"/>
          </a:xfrm>
          <a:prstGeom prst="roundRect">
            <a:avLst>
              <a:gd name="adj" fmla="val 6173"/>
            </a:avLst>
          </a:prstGeom>
          <a:solidFill>
            <a:srgbClr val="273463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532888"/>
            <a:ext cx="402336" cy="402336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10" name="Image 1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262944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514600"/>
            <a:ext cx="448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Joint-highest test accuracy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49808" y="3044952"/>
            <a:ext cx="499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best score of any model — 28 of 30 held-out samples correct.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23864" y="2331720"/>
            <a:ext cx="5419192" cy="1481328"/>
          </a:xfrm>
          <a:prstGeom prst="roundRect">
            <a:avLst>
              <a:gd name="adj" fmla="val 6173"/>
            </a:avLst>
          </a:prstGeom>
          <a:solidFill>
            <a:srgbClr val="273463"/>
          </a:solidFill>
          <a:ln/>
        </p:spPr>
      </p:sp>
      <p:sp>
        <p:nvSpPr>
          <p:cNvPr id="14" name="Shape 10"/>
          <p:cNvSpPr/>
          <p:nvPr/>
        </p:nvSpPr>
        <p:spPr>
          <a:xfrm>
            <a:off x="6425032" y="2532888"/>
            <a:ext cx="402336" cy="402336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15" name="Image 2" descr="/home/claude/work/icons/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92" y="2629449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55384" y="2514600"/>
            <a:ext cx="448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across folds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25032" y="3044952"/>
            <a:ext cx="499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cross-validation standard deviation (0.017) — generalises reliably rather than fitting one split.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995928"/>
            <a:ext cx="5419192" cy="1481328"/>
          </a:xfrm>
          <a:prstGeom prst="roundRect">
            <a:avLst>
              <a:gd name="adj" fmla="val 6173"/>
            </a:avLst>
          </a:prstGeom>
          <a:solidFill>
            <a:srgbClr val="273463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" y="4197096"/>
            <a:ext cx="402336" cy="402336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20" name="Image 3" descr="/home/claude/work/icons/tre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9" y="4293657"/>
            <a:ext cx="209215" cy="2092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178808"/>
            <a:ext cx="448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weak features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9808" y="4709160"/>
            <a:ext cx="499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ensemble on random feature subsets, it handles sepal width's low signal without manual elimination.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23864" y="3995928"/>
            <a:ext cx="5419192" cy="1481328"/>
          </a:xfrm>
          <a:prstGeom prst="roundRect">
            <a:avLst>
              <a:gd name="adj" fmla="val 6173"/>
            </a:avLst>
          </a:prstGeom>
          <a:solidFill>
            <a:srgbClr val="273463"/>
          </a:solidFill>
          <a:ln/>
        </p:spPr>
      </p:sp>
      <p:sp>
        <p:nvSpPr>
          <p:cNvPr id="24" name="Shape 18"/>
          <p:cNvSpPr/>
          <p:nvPr/>
        </p:nvSpPr>
        <p:spPr>
          <a:xfrm>
            <a:off x="6425032" y="4197096"/>
            <a:ext cx="402336" cy="402336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25" name="Image 4" descr="/home/claude/work/icons/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592" y="4293657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55384" y="4178808"/>
            <a:ext cx="448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at the ensemble level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425032" y="4709160"/>
            <a:ext cx="499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scores explain its decisions — petal dimensions dominate — rather than acting as a black box.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8640" y="556869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remains a strong, lightweight alternative — equal accuracy with simpler, directly interpretable coefficients.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12264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— each of 30 test samples is ~3.3% of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609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accuracy comes from a single 80/20 split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19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search — values set by reasonable defaults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87368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the four classic measurements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6360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may not transfer to noisier, real-world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12802" cy="4251960"/>
          </a:xfrm>
          <a:prstGeom prst="rect">
            <a:avLst/>
          </a:prstGeom>
          <a:solidFill>
            <a:srgbClr val="E3E1F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0" descr="/home/claude/work/icons/rock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30" y="2112630"/>
            <a:ext cx="218724" cy="2187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50608" y="19933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search (GridSearchCV) for every model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2999232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1" descr="/home/claude/work/icons/sitem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630" y="3100182"/>
            <a:ext cx="218724" cy="2187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50608" y="29809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additional algorithms — SVM, Gradient Boosting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83680" y="3986784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2" descr="/home/claude/work/icons/chartb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30" y="4087734"/>
            <a:ext cx="218724" cy="2187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50608" y="39684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2-D decision boundaries on the top two features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583680" y="4974336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7" name="Image 3" descr="/home/claude/work/icons/seedl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630" y="5075286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50608" y="4956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across multiple random seeds for a robust estimate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Tech Stack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6" name="Image 0" descr="/home/claude/work/icons/pyth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88403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97280" y="20025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386584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10" name="Image 1" descr="/home/claude/work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2487534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368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97280" y="2606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2990088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14" name="Image 2" descr="/home/claude/work/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3091038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097280" y="32095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593592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18" name="Image 3" descr="/home/claude/work/icons/chartb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3694542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097280" y="38130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4197096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22" name="Image 4" descr="/home/claude/work/icons/fi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0" y="4298046"/>
            <a:ext cx="218724" cy="2187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178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097280" y="4416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486400" y="1371600"/>
            <a:ext cx="12802" cy="4709160"/>
          </a:xfrm>
          <a:prstGeom prst="rect">
            <a:avLst/>
          </a:prstGeom>
          <a:solidFill>
            <a:srgbClr val="E3E1F0"/>
          </a:solidFill>
          <a:ln/>
        </p:spPr>
      </p:sp>
      <p:sp>
        <p:nvSpPr>
          <p:cNvPr id="26" name="Text 19"/>
          <p:cNvSpPr/>
          <p:nvPr/>
        </p:nvSpPr>
        <p:spPr>
          <a:xfrm>
            <a:off x="5806440" y="1371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iris_classification.ipynb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notebook — code, analysis, narrative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package 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Overview, setup instructions, checklist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*.png (7 figures)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Pairplot, boxplots, heatmap, violins, importance, confusion matrices, accuracy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0"/>
          <p:cNvSpPr/>
          <p:nvPr/>
        </p:nvSpPr>
        <p:spPr>
          <a:xfrm>
            <a:off x="5806440" y="47091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and numeric results are reproducible from the notebook's exact logic, with a fixed random seed (random_state = 42).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1557</Words>
  <Application>Microsoft Office PowerPoint</Application>
  <PresentationFormat>Widescreen</PresentationFormat>
  <Paragraphs>297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mswx999 .</cp:lastModifiedBy>
  <cp:revision>4</cp:revision>
  <dcterms:created xsi:type="dcterms:W3CDTF">2026-09-13T10:31:49Z</dcterms:created>
  <dcterms:modified xsi:type="dcterms:W3CDTF">2026-09-13T10:39:39Z</dcterms:modified>
</cp:coreProperties>
</file>